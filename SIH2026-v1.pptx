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3790" y="1221935"/>
            <a:ext cx="11438980" cy="4042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AI-Enabled Real-Time Digital Twin System for Health Monitoring, Fault Prediction and Mission Reliability Enhancement of Aero Piston Engines used in MALE UAVs.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26054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and Drones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: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: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D07981-D305-05CD-5BBF-D2E0AB7163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447"/>
          <a:stretch>
            <a:fillRect/>
          </a:stretch>
        </p:blipFill>
        <p:spPr>
          <a:xfrm>
            <a:off x="4621713" y="2219316"/>
            <a:ext cx="7408981" cy="41575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298313" y="0"/>
            <a:ext cx="7099712" cy="603221"/>
          </a:xfrm>
        </p:spPr>
        <p:txBody>
          <a:bodyPr/>
          <a:lstStyle/>
          <a:p>
            <a:pPr eaLnBrk="1" hangingPunct="1"/>
            <a:r>
              <a:rPr lang="en-IN" sz="1800" b="1" dirty="0" err="1"/>
              <a:t>AeroTwin</a:t>
            </a:r>
            <a:r>
              <a:rPr lang="en-IN" sz="1800" b="1" dirty="0"/>
              <a:t>-X: Edge-Driven, Physics-Informed Digital Twin for MALE UAVs</a:t>
            </a:r>
            <a:endParaRPr lang="en-US" sz="1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91519"/>
            <a:ext cx="1082467" cy="60322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Synus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9323" y="72953"/>
            <a:ext cx="1558474" cy="7358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16C979-9077-1B4A-BE33-D7FA6A7BC01A}"/>
              </a:ext>
            </a:extLst>
          </p:cNvPr>
          <p:cNvSpPr txBox="1"/>
          <p:nvPr/>
        </p:nvSpPr>
        <p:spPr>
          <a:xfrm>
            <a:off x="115899" y="808835"/>
            <a:ext cx="552704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pPr algn="just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Digital Twin framework integrating live CAN-bus telemetry, 1D thermodynamic engine models, and Explainable AI (XAI).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creates a continuously synchronized virtual replica of the physical aero piston engine for real-time health scoring and mission replay.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Problem: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Transitions UAV maintenance from reactive (threshold-based) to proactive by dynamically estimating Remaining Useful Life (RUL).</a:t>
            </a:r>
          </a:p>
          <a:p>
            <a:pPr lvl="0"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environmental variables (high altitude, hot weather) against the virtual model to predict engine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a mission begins.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F870A4-D010-D095-408A-11271977BF56}"/>
              </a:ext>
            </a:extLst>
          </p:cNvPr>
          <p:cNvSpPr txBox="1"/>
          <p:nvPr/>
        </p:nvSpPr>
        <p:spPr>
          <a:xfrm>
            <a:off x="115899" y="4156753"/>
            <a:ext cx="12001898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Uniqueness: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4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Physics-Informed AI (PINNs):</a:t>
            </a:r>
            <a:r>
              <a:rPr lang="en-I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Combines thermodynamic laws with machine learning, allowing accurate fault prediction even with limited historical failure data.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Edge-to-Cloud Federated Architecture:</a:t>
            </a:r>
            <a:r>
              <a:rPr lang="en-I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Critical anomaly detection (misfires, sensor drift) happens onboard via Edge AI; lightweight state-vectors are sent to the Ground Control Station (GCS) to save bandwidth.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(XAI):</a:t>
            </a:r>
            <a:r>
              <a:rPr lang="en-IN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Ensures ground crews receive transparent maintenance advisories (e.g., "75% probability of injector abnormality due to anomalous EGT + Vibration correlation").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B96473-D7A9-8461-08C0-B5B830BF36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481"/>
          <a:stretch>
            <a:fillRect/>
          </a:stretch>
        </p:blipFill>
        <p:spPr>
          <a:xfrm>
            <a:off x="5885714" y="919173"/>
            <a:ext cx="6243148" cy="36009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616585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30326"/>
            <a:ext cx="1153587" cy="4386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Synus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152" y="1501"/>
            <a:ext cx="1201783" cy="5674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2BFB05-860D-154E-5C56-3C54C40E0590}"/>
              </a:ext>
            </a:extLst>
          </p:cNvPr>
          <p:cNvSpPr txBox="1"/>
          <p:nvPr/>
        </p:nvSpPr>
        <p:spPr>
          <a:xfrm>
            <a:off x="120645" y="630118"/>
            <a:ext cx="2723237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to be Used:</a:t>
            </a:r>
          </a:p>
          <a:p>
            <a:pPr algn="just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bus /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SocketCAN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FADEC interface, MQTT (Secure Telemetry).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Hardware (UAV Onboard):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Lightweight Edge AI device (e.g., NVIDIA Jetson Orin Nano).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Stack: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PINNs), scikit-survival (for RUL), SHAP (for XAI).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OpenModelica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GT-SUITE (for thermodynamic base models).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GCS Dashboard: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React.js, WebGL (for 3D engine visualization), Grafana/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InfluxDB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time-series telemetry.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2707E7-95A7-CFCB-4C80-CC4A41009170}"/>
              </a:ext>
            </a:extLst>
          </p:cNvPr>
          <p:cNvSpPr txBox="1"/>
          <p:nvPr/>
        </p:nvSpPr>
        <p:spPr>
          <a:xfrm>
            <a:off x="2843882" y="647560"/>
            <a:ext cx="900726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Implementation Process:</a:t>
            </a:r>
          </a:p>
          <a:p>
            <a:pPr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extraction of RPM, CHT, EGT, fuel flow, and vibration signatures via CAN.</a:t>
            </a:r>
          </a:p>
          <a:p>
            <a:pPr lvl="0"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Analytics (Onboard):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Ultra-fast isolation forest algorithms detect immediate anomalies (rapid throttle transitions, combustion instability) and alert the autopilot/operator.</a:t>
            </a:r>
          </a:p>
          <a:p>
            <a:pPr lvl="0"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B869FA-5A2F-9FCE-A09B-058B2EC394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592"/>
          <a:stretch>
            <a:fillRect/>
          </a:stretch>
        </p:blipFill>
        <p:spPr>
          <a:xfrm>
            <a:off x="5102447" y="2174241"/>
            <a:ext cx="7089552" cy="41311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7EC8C4-9799-32CB-51CF-333626417D05}"/>
              </a:ext>
            </a:extLst>
          </p:cNvPr>
          <p:cNvSpPr txBox="1"/>
          <p:nvPr/>
        </p:nvSpPr>
        <p:spPr>
          <a:xfrm>
            <a:off x="2843882" y="2150654"/>
            <a:ext cx="225856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 Core Sync (GCS Server):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Live telemetry synchronizes with the virtual thermodynamic model to calculate hidden states (e.g., internal cylinder pressures, coating degradation).</a:t>
            </a:r>
          </a:p>
          <a:p>
            <a:pPr lvl="0"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Engine: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processes health indices to estimate RUL and track overheating/lubrication trends.</a:t>
            </a:r>
          </a:p>
          <a:p>
            <a:pPr lvl="0"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 &amp; Simulation: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logs are fed into the simulator for post-flight analysis or pre-flight "what-if" environmental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059558" y="1500"/>
            <a:ext cx="7242600" cy="677797"/>
          </a:xfrm>
        </p:spPr>
        <p:txBody>
          <a:bodyPr/>
          <a:lstStyle/>
          <a:p>
            <a:pPr eaLnBrk="1" hangingPunct="1"/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241989" y="677192"/>
            <a:ext cx="5787946" cy="430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Feasibility:</a:t>
            </a:r>
          </a:p>
          <a:p>
            <a:pPr lvl="0"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feasible. Modern UAVs already use CAN/FADEC, providing readily available data hooks.</a:t>
            </a:r>
          </a:p>
          <a:p>
            <a:pPr lvl="1"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COTS (Commercial Off-The-Shelf) Edge AI hardware ensures lightweight deployment without altering the UAV's core flight dynamics.</a:t>
            </a:r>
          </a:p>
          <a:p>
            <a:pPr lvl="1"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Challenges and Risks:</a:t>
            </a:r>
          </a:p>
          <a:p>
            <a:pPr lvl="0"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1: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Telemetry latency or data loss over weak, high-altitude communication links.</a:t>
            </a:r>
          </a:p>
          <a:p>
            <a:pPr lvl="1"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2: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Scarcity of real-world "catastrophic failure" datasets to train the AI.</a:t>
            </a:r>
          </a:p>
          <a:p>
            <a:pPr lvl="1" algn="just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3: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computational load of running physics models in real-time.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173907" cy="42705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Synus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476" y="1500"/>
            <a:ext cx="1435459" cy="6777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7AC71A-8D7C-0687-C94D-E504DAC161D2}"/>
              </a:ext>
            </a:extLst>
          </p:cNvPr>
          <p:cNvSpPr txBox="1"/>
          <p:nvPr/>
        </p:nvSpPr>
        <p:spPr>
          <a:xfrm>
            <a:off x="153854" y="4454930"/>
            <a:ext cx="12038146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for Overcoming Challenges:</a:t>
            </a:r>
          </a:p>
          <a:p>
            <a:pPr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1: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Edge-AI layer ensures the UAV can self-diagnose critical faults independently, sending only essential alerts (not raw data) if bandwidth drops.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2: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Physics-based engine model acts as a "Synthetic Data Generator," simulating misfires and sensor drifts to train the AI layer comprehensively.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3: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 heavy 3D thermodynamic models with "Surrogate AI Models"—neural networks trained to mimic the physics model instantly with a fraction of the computing power.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D92452-CA8B-3176-D28E-DA4EC017B3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756"/>
          <a:stretch>
            <a:fillRect/>
          </a:stretch>
        </p:blipFill>
        <p:spPr>
          <a:xfrm>
            <a:off x="153854" y="786119"/>
            <a:ext cx="6054012" cy="356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88046" y="124071"/>
            <a:ext cx="6736080" cy="807334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2540" y="656305"/>
            <a:ext cx="11252628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 on the Target Audience:</a:t>
            </a:r>
          </a:p>
          <a:p>
            <a:pPr lvl="0"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UAV Operators &amp;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Forces: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Prevents catastrophic mid-air engine failures, ensuring high-value asset protection and mission success in strategic operations.</a:t>
            </a:r>
          </a:p>
          <a:p>
            <a:pPr lvl="1"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Propulsion &amp; Maintenance Engineers: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intuitive dashboard with precise fault isolation, eliminating guesswork during post-flight inspections.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93347"/>
            <a:ext cx="1143427" cy="47927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Synus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1501"/>
            <a:ext cx="1209536" cy="571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3E6716-3AFA-F570-F846-4CC4DE7985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741"/>
          <a:stretch>
            <a:fillRect/>
          </a:stretch>
        </p:blipFill>
        <p:spPr>
          <a:xfrm>
            <a:off x="5455920" y="2436192"/>
            <a:ext cx="6736080" cy="39185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3D86EE-93AA-4E7D-A228-E407A14D87B0}"/>
              </a:ext>
            </a:extLst>
          </p:cNvPr>
          <p:cNvSpPr txBox="1"/>
          <p:nvPr/>
        </p:nvSpPr>
        <p:spPr>
          <a:xfrm>
            <a:off x="164886" y="2459548"/>
            <a:ext cx="512614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the Solution:</a:t>
            </a:r>
          </a:p>
          <a:p>
            <a:pPr lvl="0"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Shifts from costly scheduled maintenance to Condition-Based Maintenance (CBM), significantly reducing Grounding Time and MRO (Maintenance, Repair, Overhaul) costs.</a:t>
            </a:r>
          </a:p>
          <a:p>
            <a:pPr lvl="1"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Reliability: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"Mission Replay" capability allows strategic planners to virtually test engine endurance against extreme weather profiles before actual deployment.</a:t>
            </a:r>
          </a:p>
          <a:p>
            <a:pPr lvl="1"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Utilizing a secure telemetry architecture and Federated Learning ensures sensitive operational engine signatures remain decentralized and protected from interception.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94786" y="1421460"/>
            <a:ext cx="11299374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Architecture Standard: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Adheres to ISO 13374 standards for condition monitoring and diagnostics of machines.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Physics-Informed Machine Learning: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 based on "Physics-informed neural networks: A deep learning framework for solving forward and inverse problems"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Raissi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2019) to validate the hybrid DT approach.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Edge Computing in UAVs: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of SAE ARP4386 (UAV Engine Monitoring) guidelines adapted for distributed edge-cloud frameworks.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RUL Estimation: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Leveraging NASA’s C-MAPSS (Commercial Modular Aero-Propulsion System Simulation) data principles for designing the degradation and Remaining Useful Life algorithms.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Synus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7587</TotalTime>
  <Words>936</Words>
  <Application>Microsoft Office PowerPoint</Application>
  <PresentationFormat>Widescreen</PresentationFormat>
  <Paragraphs>111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AeroTwin-X: Edge-Driven, Physics-Informed Digital Twin for MALE UAVs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Sourabh Patil</cp:lastModifiedBy>
  <cp:revision>150</cp:revision>
  <dcterms:created xsi:type="dcterms:W3CDTF">2013-12-12T18:46:50Z</dcterms:created>
  <dcterms:modified xsi:type="dcterms:W3CDTF">2026-08-31T16:19:47Z</dcterms:modified>
  <cp:category/>
</cp:coreProperties>
</file>