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560320"/>
            <a:ext cx="3840480" cy="3840480"/>
          </a:xfrm>
          <a:prstGeom prst="ellipse">
            <a:avLst/>
          </a:prstGeom>
          <a:ln w="15875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2971800"/>
            <a:ext cx="3017520" cy="3017520"/>
          </a:xfrm>
          <a:prstGeom prst="ellipse">
            <a:avLst/>
          </a:prstGeom>
          <a:ln w="15875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383280"/>
            <a:ext cx="2194560" cy="2194560"/>
          </a:xfrm>
          <a:prstGeom prst="ellipse">
            <a:avLst/>
          </a:prstGeom>
          <a:ln w="1587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SMART INDIA HACKATHON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FOR MALE UAV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AERO-PISTON ENGINE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System Architecture — physics-informed AI for real-time engine health monitoring, fault prediction, and mission reliability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977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39776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3977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39776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3977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Systems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11696" y="397764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11696" y="39776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Deliverables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research domains, merged into one buildable software system.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989320"/>
            <a:ext cx="49377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1081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AETS  ·  Problem Statement: AI-Enabled Real-Time Digital Twin System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Health Monitoring, Fault Prediction &amp; Mission Reliability Enhancement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CORE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Alarms to a Trustworthy Predictive Twin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LSTM project, and not a monitoring dashboard — a synchronized, physics-informed Digital Twin.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56816"/>
            <a:ext cx="3209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Monitoring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thresholds fire only after a value already crossed a limit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sense of degradation building beforehand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1956816"/>
            <a:ext cx="3209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Monitoring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53128" y="2286000"/>
            <a:ext cx="32095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expected engine behaviour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deviation before a severe threshold breach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685032" cy="1737360"/>
          </a:xfrm>
          <a:prstGeom prst="roundRect">
            <a:avLst>
              <a:gd name="adj" fmla="val 368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1956816"/>
            <a:ext cx="3282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(our target)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28600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synchronizes telemetry, context, physics and AI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estimation + prediction + decision support, together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SIH26054 explicitly asks for: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510589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60520"/>
            <a:ext cx="1510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estimation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14093" y="4160520"/>
            <a:ext cx="1585570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14093" y="4160520"/>
            <a:ext cx="1585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5966" y="4160520"/>
            <a:ext cx="1510589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5966" y="4160520"/>
            <a:ext cx="1510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6634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tracking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14016" y="4663440"/>
            <a:ext cx="1360627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14016" y="4663440"/>
            <a:ext cx="13606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 estimation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20947" y="4663440"/>
            <a:ext cx="2335378" cy="384048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20947" y="4663440"/>
            <a:ext cx="2335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simulation + replay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21A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2578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C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 principle:  The AI is one intelligence layer inside the Twin — not the Twin itself. Physics defines expected behaviour; AI learns what physics alone can't capture; fusion produces the Twin's live state.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TEAM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Research Domains, Merged Into One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member's research maps directly onto a required PS section and a working module — nothing collected is decorative.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24912" cy="3840480"/>
          </a:xfrm>
          <a:prstGeom prst="roundRect">
            <a:avLst>
              <a:gd name="adj" fmla="val 2349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2082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002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&amp; Simulation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386584"/>
            <a:ext cx="23225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engine physics: atmosphere -&gt; airflow -&gt; combustion -&gt; torque -&gt; thermal/oil -&gt; vibration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fault types injected as physics changes, not sensor overrides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 simulator, datasets, physics residual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0984" y="1874520"/>
            <a:ext cx="2724912" cy="3840480"/>
          </a:xfrm>
          <a:prstGeom prst="roundRect">
            <a:avLst>
              <a:gd name="adj" fmla="val 2349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20208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65576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2002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Core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386584"/>
            <a:ext cx="23225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estimation (Kalman) + shared multi-task LSTM (forecast / anomaly / RUL)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anomaly detection, particle-filter RUL, conformal uncertainty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 trained model, health/severity/RUL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1874520"/>
            <a:ext cx="2724912" cy="3840480"/>
          </a:xfrm>
          <a:prstGeom prst="roundRect">
            <a:avLst>
              <a:gd name="adj" fmla="val 2349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0208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002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Systems &amp; Dashboard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386584"/>
            <a:ext cx="23225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telemetry schema shared by simulator and real hardware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WebSocket streaming; CAN reserved for real engine link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 backend, storage schema, operator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88552" y="1874520"/>
            <a:ext cx="2724912" cy="3840480"/>
          </a:xfrm>
          <a:prstGeom prst="roundRect">
            <a:avLst>
              <a:gd name="adj" fmla="val 2349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53144" y="2020824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53144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2002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Deliverables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386584"/>
            <a:ext cx="23225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Environmental-mode accuracy corrections (altitude, heat, endurance, throttle)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Detection-time / false-alarm test plan for all 8 faults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 validation report, demo script, documentation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FLAGSHIP 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Pipeline: Engine to Operator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interchangeable sources feed one common pipeline — replacing the simulator with real hardware never touches the Twin or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94767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ENGINE PATH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240280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-&gt; ECU/FADEC -&gt; CAN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290779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PATH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3200400"/>
            <a:ext cx="2221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 (Member 1)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0984" y="2404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GATEWAY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00984" y="2697480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Normalize schema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24144" y="240487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ESTIMATION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24144" y="2697480"/>
            <a:ext cx="2039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filter: physics + sensors -&gt; best estimate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75320" y="233172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240487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LSTM CORE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697480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encoder, 3 heads: forecast / anomaly / RUL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80694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386791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ANOMALY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" y="4160520"/>
            <a:ext cx="2496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residual + CUSUM change-point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20440" y="379476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75304" y="38679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 LAYER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75304" y="4160520"/>
            <a:ext cx="2633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index - Fault diagnosis - RUL (particle filter + conformal UQ)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37947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75704" y="3867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775704" y="4160520"/>
            <a:ext cx="2176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telemetry + health + fault history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464040" y="3794760"/>
            <a:ext cx="2267712" cy="777240"/>
          </a:xfrm>
          <a:prstGeom prst="roundRect">
            <a:avLst>
              <a:gd name="adj" fmla="val 7059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18904" y="386791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DASHBOARD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518904" y="4160520"/>
            <a:ext cx="2157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-&gt; React: live health, alerts, replay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50749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5074920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rule: the simulator and real engine emit the identical normalized telemetry schema — every downstream module is source-agnostic by construction.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MEMBER 1 · PHYSICS SIMULATION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Causal Physics Chain Behind Every Telemetry Point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 are built by changing physics parameters, never by writing directly to a sensor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 rho vs altitude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227685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942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m_a = rho*Vd*(RPM/120)*eta_v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27685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8678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+ COMBUSTION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98678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release, power</a:t>
            </a:r>
            <a:endParaRPr lang="en-US" sz="780" dirty="0"/>
          </a:p>
        </p:txBody>
      </p:sp>
      <p:sp>
        <p:nvSpPr>
          <p:cNvPr id="16" name="Text 14"/>
          <p:cNvSpPr txBox="1"/>
          <p:nvPr/>
        </p:nvSpPr>
        <p:spPr>
          <a:xfrm>
            <a:off x="5413248" y="227685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2414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+ RPM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72414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dw/dt = T_eng - T_prop - T_fric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7150608" y="227685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6150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+ OIL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Cth dT/dt = Qgen - Qrej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227685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0" y="19659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98864" y="2039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2404872"/>
            <a:ext cx="1371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harmonics + fault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0E1524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291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 -&gt; modifies the physics parameters at any point in this chain (e.g. cooling health, injector health), and every downstream sensor reading changes as a consequence.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19709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-&gt; Hidden States -&gt; Outputs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526280"/>
            <a:ext cx="50840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altitude, ambient T/P, airspeed, throttle, mission phase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states: combustion / cooling / injector / lubrication health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RPM, CHT, EGT, oil P/T, vibration, fuel flow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45352" y="406908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19709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Residuals — the Bridge to AI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4526280"/>
            <a:ext cx="50840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measured - physics-predicted, at the same operating point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residual under comparable load/altitude signals real degradation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trains on ground-truth health labels; inference sees only telemetry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FAULT LIBRARY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Fault Types — Causal, Multi-Sensor Signatures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uses evidence across correlated sensors, never a single-parameter threshold.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74552" cy="416052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5148072"/>
              </a:tblGrid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Physics Change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Multi-Sensor Signature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Misfire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Cylinder torque contribution drops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RPM irregularity ^, vibration ^, cylinder EGT deviation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Injector abnormality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delivered != commanded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flow error, EGT/CHT shift, torque imbalance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 degradation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rejection falls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CHT ^ (slow trend), oil temp ^, possible oil-pressure dip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Lubrication loss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Oil pressure / film breaks down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Oil pressure v, friction ^, oil temp ^, vibration ^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Combustion instability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Cycle-to-cycle variance rises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EGT variance ^, vibration ^, RPM oscillation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Overheating trend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generated &gt; rejected, sustained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CHT + EGT + oil temp rising together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Abnormal vibration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Mechanical / bearing irregularity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Vibration RMS and crest factor rise vs 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drift / failure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 wrong, engine healthy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sensor diverges while correlated signals stay normal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MEMBER 4 · MISSION SIMULATION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Environmental Modes, Validated Against Reality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engine, different operating context — each mode was checked against aviation reference sources, not assumed.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139696" cy="1417320"/>
          </a:xfrm>
          <a:prstGeom prst="roundRect">
            <a:avLst>
              <a:gd name="adj" fmla="val 451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02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baseline across all parameters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874520"/>
            <a:ext cx="2139696" cy="1417320"/>
          </a:xfrm>
          <a:prstGeom prst="roundRect">
            <a:avLst>
              <a:gd name="adj" fmla="val 451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2002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ALTITUDE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 pressure falls; CHT/EGT trend up unless leaned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74520"/>
            <a:ext cx="2139696" cy="1417320"/>
          </a:xfrm>
          <a:prstGeom prst="roundRect">
            <a:avLst>
              <a:gd name="adj" fmla="val 451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38928" y="2002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WEATHER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riser of all modes — oil temp &amp; CHT climb fastest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1874520"/>
            <a:ext cx="2139696" cy="1417320"/>
          </a:xfrm>
          <a:prstGeom prst="roundRect">
            <a:avLst>
              <a:gd name="adj" fmla="val 451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79208" y="2002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79208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thermal soak then plateau; watch trend, not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18320" y="1874520"/>
            <a:ext cx="2139696" cy="1417320"/>
          </a:xfrm>
          <a:prstGeom prst="roundRect">
            <a:avLst>
              <a:gd name="adj" fmla="val 451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19488" y="2002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THROTTLE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19488" y="2331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 pressure reacts in ~1-2s; CHT/EGT lag by seconds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74552" cy="2514600"/>
        </p:xfrm>
        <a:graphic>
          <a:graphicData uri="http://schemas.openxmlformats.org/drawingml/2006/table">
            <a:tbl>
              <a:tblPr/>
              <a:tblGrid>
                <a:gridCol w="1673352"/>
                <a:gridCol w="1920240"/>
                <a:gridCol w="1920240"/>
                <a:gridCol w="192024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Altitude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 Weather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Endurance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 Throttle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Steady mid-range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Trending 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— worst case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drift, then flat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Lags throttle by seconds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Oil Pressure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Steady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stable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down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decline = wear sign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 dip on 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baseline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Little direct effect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Little direct effect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creep = wear sign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transient spikes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power map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leaning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Similar, less dense air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stable signal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Near-instant 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MEMBER 3 · REAL-TIME DATA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Common Interface, Two Interchangeable Sources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hardware and the prototype simulator both speak the same normalized telemetry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9476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ENGINE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24028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-&gt; ECU/FADEC -&gt; CAN/SocketCAN -&gt; Edge Gateway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299923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3291840"/>
            <a:ext cx="3090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 -&gt; identical telemetry interface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6014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237744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4505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PIPELINE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261104" y="2743200"/>
            <a:ext cx="3182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-&gt; Validate -&gt; Digital Twin -&gt; AI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6014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2377440"/>
            <a:ext cx="3639312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47304" y="24505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743200"/>
            <a:ext cx="35295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push -&gt; live dashboard state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5486400" cy="1737360"/>
          </a:xfrm>
          <a:prstGeom prst="roundRect">
            <a:avLst>
              <a:gd name="adj" fmla="val 368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2885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/ SocketCAN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617720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close to the engine: ECU/FADEC -&gt; CAN -&gt; Linux gateway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python-can decodes frames on the real-hardware path only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answer: 'CAN is for engine/vehicle communication'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4160520"/>
            <a:ext cx="5486400" cy="1737360"/>
          </a:xfrm>
          <a:prstGeom prst="roundRect">
            <a:avLst>
              <a:gd name="adj" fmla="val 3684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2885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17720"/>
            <a:ext cx="50840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between backend and dashboard, not near the engine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pushes the latest processed state immediately — no polling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answer: 'WebSocket is for real-time application-layer delivery'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MEMBER 2 · AI/ML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Estimation + Shared Multi-Task Forecasting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Kalman-filtered state feeds one shared encoder with three purpose-built heads.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9933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MODEL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286000"/>
            <a:ext cx="2176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state from Member 1's simulator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99339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55264" y="2286000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or simulated telemetry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23560" y="192024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78424" y="19933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678424" y="2286000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physics + sensors into one best-estimate state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0" y="1920240"/>
            <a:ext cx="3044952" cy="868680"/>
          </a:xfrm>
          <a:prstGeom prst="roundRect">
            <a:avLst>
              <a:gd name="adj" fmla="val 6316"/>
            </a:avLst>
          </a:prstGeom>
          <a:solidFill>
            <a:srgbClr val="0E1524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41664" y="199339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LSTM ENCODER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41664" y="2286000"/>
            <a:ext cx="2935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head / Anomaly head / RUL head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3741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Kalman filter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3703320"/>
            <a:ext cx="50840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aerospace state-estimation tool; fuses noisy sensors with a physics prediction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answers the PS's named 'real-time state estimation' requirement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downstream computation runs on this cleaner estimate, not raw noise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324612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3741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shared multi-task encoder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703320"/>
            <a:ext cx="50840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anomaly and RUL heads trained jointly on one LSTM encoder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parameter-efficient on limited synthetic/simulated data than 3 separate models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timestep window in, next-K states + severity + RUL out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0E1524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3492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rule: keep the simplest model that provides a meaningful, validated improvement — benchmark LSTM against persistence and moving-average baselines before trusting it.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TRUST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Judge Should Believe Our Alerts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detectors, calibrated uncertainty, and a sensor self-check — before any number reaches the operator.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24912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0253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Anomaly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1: forecast-residual deviation — catches sharp deviations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2: CUSUM / Page-Hinkley change-point — catches slow drift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0984" y="1874520"/>
            <a:ext cx="2724912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200253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 — Particle Filter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33172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Propagates the physics degradation model as weighted trajectories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Literature-standard for RUL with genuine uncertainty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1874520"/>
            <a:ext cx="2724912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200253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33172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Distribution-free calibrated intervals, wraps any existing model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 required; real coverage guarantee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88552" y="1874520"/>
            <a:ext cx="2724912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200253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Sensor Check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331720"/>
            <a:ext cx="23225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a parameter from correlated sensors + context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sensor drift/failure vs a real engine fault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59028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example — operator output for a lubrication alert: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82896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"Lubrication degradation likely — driven primarily by falling oil pressure and rising oil temperature." (Oil pressure: HIGH contribution · Oil temp: HIGH · Vibration: MEDIUM · RPM: LOW)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53218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rule: AI provides decision support — not sole safety authority. Low-confidence outputs route to operator review, never blind automation.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STORAGE, REPLAY &amp; OPERATOR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History Into a Story Engineers Can Act 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raw data — a fault timeline, session comparison, and a one-page report, in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57600" cy="3931920"/>
          </a:xfrm>
          <a:prstGeom prst="roundRect">
            <a:avLst>
              <a:gd name="adj" fmla="val 1750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02536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32552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(raw/normalized)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 &amp; engine information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fault events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history (index, anomaly score, RUL)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raw and processed results stored, so engineers can investigate after a mission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61104" y="1874520"/>
            <a:ext cx="3657600" cy="3931920"/>
          </a:xfrm>
          <a:prstGeom prst="roundRect">
            <a:avLst>
              <a:gd name="adj" fmla="val 1750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2002536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Replay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331720"/>
            <a:ext cx="32552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Timeline — every alert scrubbable, with timestamp and flight phase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Comparison — this flight vs past flights / fleet baseline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Context — auto-tagged with what was happening (e.g. 'misfire during rapid throttle at high altitude')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Report — exportable PDF for the logbook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874520"/>
            <a:ext cx="3666744" cy="3931920"/>
          </a:xfrm>
          <a:prstGeom prst="roundRect">
            <a:avLst>
              <a:gd name="adj" fmla="val 1746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2002536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Dashboard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2644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values: RPM, EGT, CHT, oil P/T, fuel flow, vibration, battery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Health: index, anomaly score, predicted fault, confidence, RUL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Trends: parameter history, health trend, alert timeline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status: CONNECTED / STALE / DISCONNECTED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VALIDATION &amp; TEST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Prove the System Is Useful — Not Just Working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accuracy claims before validation. Task-specific engineering metrics, and a pass/fail target per fault.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858000" cy="416052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2103120"/>
              </a:tblGrid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Time-to-Detect 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False-Alarm Tolerance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Lubrication issue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seconds — safety-critical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— must never miss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Misfire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a few seconds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Combustion instability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a few seconds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Injector abnormality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10-30 seconds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Abnormal vibration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 to ~1 minute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Overheating trend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 minutes, before redline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early warning is the goal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 degradation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 minutes (trend-based)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drift / failure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(dropout) / flights (drift)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— avoid nuisance alarms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828800"/>
            <a:ext cx="4187952" cy="4160520"/>
          </a:xfrm>
          <a:prstGeom prst="roundRect">
            <a:avLst>
              <a:gd name="adj" fmla="val 1538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44968" y="1956816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by Module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44968" y="2286000"/>
            <a:ext cx="3785616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Forecasting: MAE, RMSE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Anomaly: Precision, Recall, F1, PR-AUC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diagnosis: per-fault F1, confusion matrix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RUL: MAE, RMSE, interval coverage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inference latency, memory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fidelity: state error, sync latency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earlier detection than a threshold baseline, with controlled false alarms — not 99% accuracy claims.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COMPLETE 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Module, Mapped to a Real Technology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requires hardware access we don't have, or a library that doesn't exist today.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251960"/>
        </p:xfrm>
        <a:graphic>
          <a:graphicData uri="http://schemas.openxmlformats.org/drawingml/2006/table">
            <a:tbl>
              <a:tblPr/>
              <a:tblGrid>
                <a:gridCol w="3566160"/>
                <a:gridCol w="7708392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0F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acquisition (real path)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Sensors, ECU/FADEC, CAN, SocketCAN, python-can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 simulator (Member 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NumPy — causal physics equations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FastAPI, Pydantic, Uvicorn, WebSocket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estimation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filterpy (Kalman filter)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— shared multi-task LSTM (forecast / anomaly / RUL heads)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ensemble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 / ruptures — CUSUM, Page-Hinkley change-point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 &amp; uncertainty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particle filter; MAPIE — conformal prediction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(TimescaleDB later, if telemetry volume grows)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 + WebSocket + Recharts/ECharts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visualization (stretch)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Three.js / React Three Fiber — component-level health 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7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+ Docker / Docker Compose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ACHIEVABLE BUILD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Phased, Not Theoretical — Every Phase Unblocks the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Software-only. Nothing on this roadmap requires access we don't already have.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6654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Fault-Injection Simulator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chain + 8 fault types + healthy-baseline validation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184398"/>
            <a:ext cx="1051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2868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7460" y="206654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3746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39796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Pipeline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574036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WebSocket streaming, common telemetry schema, session logging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83380" y="3184398"/>
            <a:ext cx="1051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88536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3128" y="2066544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53128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Core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state estimation, shared multi-task LSTM, ensemble anomaly, RUL + UQ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99048" y="3184398"/>
            <a:ext cx="1051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4204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8796" y="206654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68796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71132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5372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HMI dashboard, health scores, alerts; 3D twin view as stretch goal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14716" y="3184398"/>
            <a:ext cx="1051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9872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206654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84464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Sim &amp; Replay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environmental modes, fault timeline, session comparison, PDF report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930384" y="3184398"/>
            <a:ext cx="1051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35540" y="1920240"/>
            <a:ext cx="1810512" cy="2834640"/>
          </a:xfrm>
          <a:prstGeom prst="roundRect">
            <a:avLst>
              <a:gd name="adj" fmla="val 353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00132" y="206654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0013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602468" y="20482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Docs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236708" y="2432304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Detection-time/false-alarm test pass, architecture docs, demo script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02920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0E1524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029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builds on real, working output from the previous one — nothing is a placeholder for the live demo.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INNOVATION CREDIT &amp; 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 Wins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2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Trustworthy, context-aware prognostics inside a real Digital Twin — not a dashboard with a model bolted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025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— Feasibility Credit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50840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UAV/GCS trains locally; only model updates (never raw telemetry) sync to a fleet-wide model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benchmark: ~32% fewer unscheduled engine removals reported using federated predictive-maintenance within 18 months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feasibility-level for this hackathon, not a built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87452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121A2B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02536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Angle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31720"/>
            <a:ext cx="50840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model runs onboard for instant alerts, even with no ground link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Heavier RUL/trend and fleet-learning models run on the ground server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answers the PS's 'lightweight onboard analytics' innovation area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competitive: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006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Context-aware (altitude + throttle + ambient + mission phase)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33672" y="48006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Physics + AI fusion, not a black box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10144" y="48006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Predictive health: fault risk + trend + RUL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3675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Sensor self-check via virtual-sensor residuals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33672" y="53675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Explainable + uncertainty-aware outputs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10144" y="53675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Edge-ready, fleet-scalable architecture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SIH26054 · UNIFIED ARCHITECTURE —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2026-08-30T04:52:21Z</dcterms:created>
  <dcterms:modified xsi:type="dcterms:W3CDTF">2026-08-30T04:52:21Z</dcterms:modified>
</cp:coreProperties>
</file>